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5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8C8C"/>
    <a:srgbClr val="94C0E8"/>
    <a:srgbClr val="D5EAFF"/>
    <a:srgbClr val="BDDEFF"/>
    <a:srgbClr val="99CCFF"/>
    <a:srgbClr val="215F9A"/>
    <a:srgbClr val="4E95D9"/>
    <a:srgbClr val="F6C012"/>
    <a:srgbClr val="F7C831"/>
    <a:srgbClr val="F6C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" d="100"/>
          <a:sy n="13" d="100"/>
        </p:scale>
        <p:origin x="23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56CD0-E58F-48A1-9A88-751698227A09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8B485-98B5-4C79-8E63-F89F05C8A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9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05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87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95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132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06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032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22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26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20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04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3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C371F-AB8E-4874-B517-16221CA8718A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C779E-50BB-4ACA-B4B5-D2C79951DD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34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1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microsoft.com/office/2007/relationships/hdphoto" Target="../media/hdphoto2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492BF-549D-16B8-6732-AA9985F4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6097101-0B84-FECB-2CD2-9BF36F91A8E7}"/>
              </a:ext>
            </a:extLst>
          </p:cNvPr>
          <p:cNvSpPr/>
          <p:nvPr/>
        </p:nvSpPr>
        <p:spPr>
          <a:xfrm>
            <a:off x="1192211" y="4623126"/>
            <a:ext cx="14667811" cy="3758873"/>
          </a:xfrm>
          <a:prstGeom prst="roundRect">
            <a:avLst>
              <a:gd name="adj" fmla="val 4248"/>
            </a:avLst>
          </a:prstGeom>
          <a:solidFill>
            <a:schemeClr val="bg1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501C5A2-2795-DC65-3E6C-385F90667800}"/>
              </a:ext>
            </a:extLst>
          </p:cNvPr>
          <p:cNvSpPr/>
          <p:nvPr/>
        </p:nvSpPr>
        <p:spPr>
          <a:xfrm>
            <a:off x="1192212" y="475675"/>
            <a:ext cx="18999200" cy="3564042"/>
          </a:xfrm>
          <a:prstGeom prst="roundRect">
            <a:avLst>
              <a:gd name="adj" fmla="val 4248"/>
            </a:avLst>
          </a:prstGeom>
          <a:solidFill>
            <a:srgbClr val="94C0E8"/>
          </a:solidFill>
          <a:ln w="38100">
            <a:solidFill>
              <a:srgbClr val="215F9A"/>
            </a:solidFill>
          </a:ln>
          <a:effectLst>
            <a:outerShdw blurRad="1524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9B54934-A336-E9CE-79A3-669DE71FFDB0}"/>
              </a:ext>
            </a:extLst>
          </p:cNvPr>
          <p:cNvSpPr txBox="1"/>
          <p:nvPr/>
        </p:nvSpPr>
        <p:spPr>
          <a:xfrm>
            <a:off x="6973486" y="717766"/>
            <a:ext cx="743665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600" b="1" dirty="0">
                <a:ln w="3175">
                  <a:solidFill>
                    <a:schemeClr val="bg1"/>
                  </a:solidFill>
                </a:ln>
                <a:latin typeface="小賴字體 SC" panose="02010600030101010101" pitchFamily="2" charset="-122"/>
                <a:ea typeface="小賴字體 SC" panose="02010600030101010101" pitchFamily="2" charset="-122"/>
              </a:rPr>
              <a:t>虛擬展會平台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2B29BE1-6E75-EF65-29D0-7D36B578853C}"/>
              </a:ext>
            </a:extLst>
          </p:cNvPr>
          <p:cNvGrpSpPr/>
          <p:nvPr/>
        </p:nvGrpSpPr>
        <p:grpSpPr>
          <a:xfrm>
            <a:off x="3129300" y="2680027"/>
            <a:ext cx="15125023" cy="769441"/>
            <a:chOff x="2328148" y="2418775"/>
            <a:chExt cx="15125023" cy="769441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EEB3BCAE-8559-1FC4-54EB-28EAD3872F49}"/>
                </a:ext>
              </a:extLst>
            </p:cNvPr>
            <p:cNvSpPr txBox="1"/>
            <p:nvPr/>
          </p:nvSpPr>
          <p:spPr>
            <a:xfrm>
              <a:off x="2328148" y="2418775"/>
              <a:ext cx="808426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4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學生：徐承毅、陳可軒、曾予菲</a:t>
              </a: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6B0D7BB-5D28-C61E-C253-A68A32F0D0B5}"/>
                </a:ext>
              </a:extLst>
            </p:cNvPr>
            <p:cNvSpPr txBox="1"/>
            <p:nvPr/>
          </p:nvSpPr>
          <p:spPr>
            <a:xfrm>
              <a:off x="11456016" y="2418775"/>
              <a:ext cx="59971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4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指導教授：陳錫民 教授</a:t>
              </a: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4900AE-ABCA-A59A-F57D-C2FA80D09A97}"/>
              </a:ext>
            </a:extLst>
          </p:cNvPr>
          <p:cNvSpPr txBox="1"/>
          <p:nvPr/>
        </p:nvSpPr>
        <p:spPr>
          <a:xfrm>
            <a:off x="1613604" y="6207733"/>
            <a:ext cx="139117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本專題旨在開發一款</a:t>
            </a:r>
            <a:r>
              <a:rPr lang="en-US" altLang="zh-TW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2D</a:t>
            </a:r>
            <a:r>
              <a: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虛擬展會平台</a:t>
            </a:r>
            <a:r>
              <a:rPr lang="en-US" altLang="zh-TW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App</a:t>
            </a:r>
            <a:r>
              <a: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，以社群式介面與遊戲化操作模式呈現，並結合人工智慧進行展會的智慧化管理（包含</a:t>
            </a:r>
            <a:r>
              <a:rPr lang="en-US" altLang="zh-TW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AI</a:t>
            </a:r>
            <a:r>
              <a: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導覽員與數據分析），希望能帶給使用者彷如實體展會的參與體驗。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721031A-6C15-A998-7B89-27A2A3ABC6B3}"/>
              </a:ext>
            </a:extLst>
          </p:cNvPr>
          <p:cNvSpPr/>
          <p:nvPr/>
        </p:nvSpPr>
        <p:spPr>
          <a:xfrm>
            <a:off x="1613604" y="4929591"/>
            <a:ext cx="2794000" cy="973836"/>
          </a:xfrm>
          <a:prstGeom prst="roundRect">
            <a:avLst/>
          </a:prstGeom>
          <a:solidFill>
            <a:srgbClr val="94C0E8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083A172-1235-C4B4-83B5-E065BB3052E6}"/>
              </a:ext>
            </a:extLst>
          </p:cNvPr>
          <p:cNvSpPr txBox="1"/>
          <p:nvPr/>
        </p:nvSpPr>
        <p:spPr>
          <a:xfrm>
            <a:off x="1789757" y="504439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專題概述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B402CA4-4CD8-4BE6-CC2F-85EAAD919DA0}"/>
              </a:ext>
            </a:extLst>
          </p:cNvPr>
          <p:cNvSpPr/>
          <p:nvPr/>
        </p:nvSpPr>
        <p:spPr>
          <a:xfrm>
            <a:off x="1192212" y="9020503"/>
            <a:ext cx="9210352" cy="7447189"/>
          </a:xfrm>
          <a:prstGeom prst="roundRect">
            <a:avLst>
              <a:gd name="adj" fmla="val 4248"/>
            </a:avLst>
          </a:prstGeom>
          <a:solidFill>
            <a:schemeClr val="bg1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4BAA0F3-3C75-3C75-0399-81F71520BDF7}"/>
              </a:ext>
            </a:extLst>
          </p:cNvPr>
          <p:cNvSpPr/>
          <p:nvPr/>
        </p:nvSpPr>
        <p:spPr>
          <a:xfrm>
            <a:off x="1789757" y="9370039"/>
            <a:ext cx="2794000" cy="973836"/>
          </a:xfrm>
          <a:prstGeom prst="roundRect">
            <a:avLst/>
          </a:prstGeom>
          <a:solidFill>
            <a:srgbClr val="94C0E8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2F45A99-1DB0-7E63-0329-AE2814AF9492}"/>
              </a:ext>
            </a:extLst>
          </p:cNvPr>
          <p:cNvSpPr txBox="1"/>
          <p:nvPr/>
        </p:nvSpPr>
        <p:spPr>
          <a:xfrm>
            <a:off x="1965910" y="9484838"/>
            <a:ext cx="24032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專題特色</a:t>
            </a:r>
          </a:p>
        </p:txBody>
      </p:sp>
      <p:pic>
        <p:nvPicPr>
          <p:cNvPr id="20" name="圖片 19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E7A1789E-61A0-7DD7-58A8-C2E386515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012" y="4623599"/>
            <a:ext cx="3758400" cy="3758400"/>
          </a:xfrm>
          <a:prstGeom prst="roundRect">
            <a:avLst>
              <a:gd name="adj" fmla="val 5442"/>
            </a:avLst>
          </a:prstGeom>
        </p:spPr>
      </p:pic>
      <p:grpSp>
        <p:nvGrpSpPr>
          <p:cNvPr id="40" name="群組 39">
            <a:extLst>
              <a:ext uri="{FF2B5EF4-FFF2-40B4-BE49-F238E27FC236}">
                <a16:creationId xmlns:a16="http://schemas.microsoft.com/office/drawing/2014/main" id="{A6DC287A-2F41-024A-14A6-655D0F9F2C25}"/>
              </a:ext>
            </a:extLst>
          </p:cNvPr>
          <p:cNvGrpSpPr/>
          <p:nvPr/>
        </p:nvGrpSpPr>
        <p:grpSpPr>
          <a:xfrm>
            <a:off x="1576948" y="10738528"/>
            <a:ext cx="4551864" cy="973837"/>
            <a:chOff x="2242636" y="10987727"/>
            <a:chExt cx="4640764" cy="973837"/>
          </a:xfrm>
          <a:solidFill>
            <a:srgbClr val="D5EAFF"/>
          </a:solidFill>
        </p:grpSpPr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59F56D34-F0D5-9E7D-A27E-332F89F5044E}"/>
                </a:ext>
              </a:extLst>
            </p:cNvPr>
            <p:cNvSpPr/>
            <p:nvPr/>
          </p:nvSpPr>
          <p:spPr>
            <a:xfrm>
              <a:off x="2242636" y="10987727"/>
              <a:ext cx="4640764" cy="97383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7D208006-97A7-F66C-2EF3-EEB2C19A32A5}"/>
                </a:ext>
              </a:extLst>
            </p:cNvPr>
            <p:cNvSpPr txBox="1"/>
            <p:nvPr/>
          </p:nvSpPr>
          <p:spPr>
            <a:xfrm>
              <a:off x="2544515" y="11151480"/>
              <a:ext cx="403700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即時互動交流系統</a:t>
              </a:r>
              <a:endPara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B4A40723-BAC7-C7AA-5A12-9C1910AE0BB3}"/>
              </a:ext>
            </a:extLst>
          </p:cNvPr>
          <p:cNvGrpSpPr/>
          <p:nvPr/>
        </p:nvGrpSpPr>
        <p:grpSpPr>
          <a:xfrm>
            <a:off x="1576948" y="14502774"/>
            <a:ext cx="3977630" cy="973837"/>
            <a:chOff x="2242636" y="10987727"/>
            <a:chExt cx="3977630" cy="973837"/>
          </a:xfrm>
          <a:solidFill>
            <a:srgbClr val="D5EAFF"/>
          </a:solidFill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A5D1242E-29A9-9DDF-682E-D3AFFC004858}"/>
                </a:ext>
              </a:extLst>
            </p:cNvPr>
            <p:cNvSpPr/>
            <p:nvPr/>
          </p:nvSpPr>
          <p:spPr>
            <a:xfrm>
              <a:off x="2242636" y="10987727"/>
              <a:ext cx="3977630" cy="97383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E44C7D37-726A-4C74-3DBB-7B67048871EA}"/>
                </a:ext>
              </a:extLst>
            </p:cNvPr>
            <p:cNvSpPr txBox="1"/>
            <p:nvPr/>
          </p:nvSpPr>
          <p:spPr>
            <a:xfrm>
              <a:off x="2585957" y="11151480"/>
              <a:ext cx="3566349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社群化操作介面</a:t>
              </a:r>
              <a:endPara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AF7314B-5F74-AB98-813A-97B55521C277}"/>
              </a:ext>
            </a:extLst>
          </p:cNvPr>
          <p:cNvGrpSpPr/>
          <p:nvPr/>
        </p:nvGrpSpPr>
        <p:grpSpPr>
          <a:xfrm>
            <a:off x="6124483" y="11493892"/>
            <a:ext cx="3977630" cy="973837"/>
            <a:chOff x="2242636" y="10987727"/>
            <a:chExt cx="3977630" cy="973837"/>
          </a:xfrm>
          <a:solidFill>
            <a:srgbClr val="D5EAFF"/>
          </a:solidFill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7D982E7B-5FD8-E1EB-2DC6-FB270891E3F1}"/>
                </a:ext>
              </a:extLst>
            </p:cNvPr>
            <p:cNvSpPr/>
            <p:nvPr/>
          </p:nvSpPr>
          <p:spPr>
            <a:xfrm>
              <a:off x="2242636" y="10987727"/>
              <a:ext cx="3977630" cy="97383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808CBA52-67E5-CFA9-376C-DC58456BEC72}"/>
                </a:ext>
              </a:extLst>
            </p:cNvPr>
            <p:cNvSpPr txBox="1"/>
            <p:nvPr/>
          </p:nvSpPr>
          <p:spPr>
            <a:xfrm>
              <a:off x="2448276" y="11151479"/>
              <a:ext cx="3566349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多角色功能設計</a:t>
              </a:r>
              <a:endParaRPr lang="en-US" altLang="zh-TW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63F1C4A9-2968-1847-0D45-9FC1FA465B3D}"/>
              </a:ext>
            </a:extLst>
          </p:cNvPr>
          <p:cNvGrpSpPr/>
          <p:nvPr/>
        </p:nvGrpSpPr>
        <p:grpSpPr>
          <a:xfrm>
            <a:off x="5783640" y="15235771"/>
            <a:ext cx="4318473" cy="973837"/>
            <a:chOff x="5783640" y="15430111"/>
            <a:chExt cx="4318473" cy="973837"/>
          </a:xfrm>
        </p:grpSpPr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DED57EB4-F47C-FFA8-C355-5B5978A38E7C}"/>
                </a:ext>
              </a:extLst>
            </p:cNvPr>
            <p:cNvSpPr/>
            <p:nvPr/>
          </p:nvSpPr>
          <p:spPr>
            <a:xfrm>
              <a:off x="5783640" y="15430111"/>
              <a:ext cx="4318473" cy="973837"/>
            </a:xfrm>
            <a:prstGeom prst="roundRect">
              <a:avLst>
                <a:gd name="adj" fmla="val 50000"/>
              </a:avLst>
            </a:prstGeom>
            <a:solidFill>
              <a:srgbClr val="D5E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B61B89E9-62AF-0307-E07F-88EE1518D32A}"/>
                </a:ext>
              </a:extLst>
            </p:cNvPr>
            <p:cNvSpPr txBox="1"/>
            <p:nvPr/>
          </p:nvSpPr>
          <p:spPr>
            <a:xfrm>
              <a:off x="5995249" y="15593864"/>
              <a:ext cx="3895255" cy="646331"/>
            </a:xfrm>
            <a:prstGeom prst="rect">
              <a:avLst/>
            </a:prstGeom>
            <a:solidFill>
              <a:srgbClr val="D5EAFF"/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人工智慧</a:t>
              </a:r>
              <a:r>
                <a:rPr lang="zh-TW" altLang="en-US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整合</a:t>
              </a:r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應用</a:t>
              </a:r>
              <a:endPara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E224A9AB-AFC0-C901-C1A6-2853DF2EF836}"/>
              </a:ext>
            </a:extLst>
          </p:cNvPr>
          <p:cNvGrpSpPr/>
          <p:nvPr/>
        </p:nvGrpSpPr>
        <p:grpSpPr>
          <a:xfrm>
            <a:off x="6124483" y="9899957"/>
            <a:ext cx="3977630" cy="973837"/>
            <a:chOff x="2242636" y="10987727"/>
            <a:chExt cx="3977630" cy="973837"/>
          </a:xfrm>
          <a:solidFill>
            <a:srgbClr val="D5EAFF"/>
          </a:solidFill>
        </p:grpSpPr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A3AB92ED-0F72-F011-588A-1F4ABAE28F3E}"/>
                </a:ext>
              </a:extLst>
            </p:cNvPr>
            <p:cNvSpPr/>
            <p:nvPr/>
          </p:nvSpPr>
          <p:spPr>
            <a:xfrm>
              <a:off x="2242636" y="10987727"/>
              <a:ext cx="3977630" cy="97383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C15B8F77-879E-A6FE-D430-8577F2A3CA5D}"/>
                </a:ext>
              </a:extLst>
            </p:cNvPr>
            <p:cNvSpPr txBox="1"/>
            <p:nvPr/>
          </p:nvSpPr>
          <p:spPr>
            <a:xfrm>
              <a:off x="2585957" y="11151480"/>
              <a:ext cx="3566349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沉浸式展會介面</a:t>
              </a:r>
              <a:endPara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32AB315-22AA-B197-0ECE-CFF90FBB2FD7}"/>
              </a:ext>
            </a:extLst>
          </p:cNvPr>
          <p:cNvGrpSpPr/>
          <p:nvPr/>
        </p:nvGrpSpPr>
        <p:grpSpPr>
          <a:xfrm>
            <a:off x="5515292" y="13695960"/>
            <a:ext cx="4586821" cy="973837"/>
            <a:chOff x="1529562" y="17506064"/>
            <a:chExt cx="4586821" cy="973837"/>
          </a:xfrm>
        </p:grpSpPr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C624F806-40D7-28FE-612D-15192B7322C5}"/>
                </a:ext>
              </a:extLst>
            </p:cNvPr>
            <p:cNvSpPr/>
            <p:nvPr/>
          </p:nvSpPr>
          <p:spPr>
            <a:xfrm>
              <a:off x="1529562" y="17506064"/>
              <a:ext cx="4586821" cy="973837"/>
            </a:xfrm>
            <a:prstGeom prst="roundRect">
              <a:avLst>
                <a:gd name="adj" fmla="val 50000"/>
              </a:avLst>
            </a:prstGeom>
            <a:solidFill>
              <a:srgbClr val="D5E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4BE16692-ED9A-58D2-6211-A2D65A6D323D}"/>
                </a:ext>
              </a:extLst>
            </p:cNvPr>
            <p:cNvSpPr txBox="1"/>
            <p:nvPr/>
          </p:nvSpPr>
          <p:spPr>
            <a:xfrm>
              <a:off x="1818810" y="17665385"/>
              <a:ext cx="4008325" cy="655195"/>
            </a:xfrm>
            <a:prstGeom prst="rect">
              <a:avLst/>
            </a:prstGeom>
            <a:solidFill>
              <a:srgbClr val="D5EAFF"/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突破實體場域限制</a:t>
              </a:r>
              <a:endPara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C11422D1-FA05-1B82-DC00-A91BF5201C4F}"/>
              </a:ext>
            </a:extLst>
          </p:cNvPr>
          <p:cNvGrpSpPr/>
          <p:nvPr/>
        </p:nvGrpSpPr>
        <p:grpSpPr>
          <a:xfrm>
            <a:off x="1576948" y="12573349"/>
            <a:ext cx="4930142" cy="973837"/>
            <a:chOff x="1737358" y="15928154"/>
            <a:chExt cx="4955542" cy="973837"/>
          </a:xfrm>
          <a:solidFill>
            <a:srgbClr val="D5EAFF"/>
          </a:solidFill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CF1C4DF9-0E97-9F66-9E72-AC0B811E11E5}"/>
                </a:ext>
              </a:extLst>
            </p:cNvPr>
            <p:cNvSpPr/>
            <p:nvPr/>
          </p:nvSpPr>
          <p:spPr>
            <a:xfrm>
              <a:off x="1737358" y="15928154"/>
              <a:ext cx="4955542" cy="97383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6A8B3459-1323-8DB4-3D69-B469952BDB74}"/>
                </a:ext>
              </a:extLst>
            </p:cNvPr>
            <p:cNvSpPr txBox="1"/>
            <p:nvPr/>
          </p:nvSpPr>
          <p:spPr>
            <a:xfrm>
              <a:off x="2049858" y="16087475"/>
              <a:ext cx="4330542" cy="6551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TW" altLang="zh-TW" sz="3600" dirty="0">
                  <a:latin typeface="小賴字體 SC" panose="02010600030101010101" pitchFamily="2" charset="-122"/>
                  <a:ea typeface="小賴字體 SC" panose="02010600030101010101" pitchFamily="2" charset="-122"/>
                </a:rPr>
                <a:t>數據管理與成效分析</a:t>
              </a:r>
              <a:endParaRPr lang="zh-TW" altLang="en-US" sz="3600" dirty="0">
                <a:latin typeface="小賴字體 SC" panose="02010600030101010101" pitchFamily="2" charset="-122"/>
                <a:ea typeface="小賴字體 SC" panose="02010600030101010101" pitchFamily="2" charset="-122"/>
              </a:endParaRPr>
            </a:p>
          </p:txBody>
        </p:sp>
      </p:grp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9EE3B1D7-8E4B-9D08-F5CD-2D7ECA2015B4}"/>
              </a:ext>
            </a:extLst>
          </p:cNvPr>
          <p:cNvSpPr/>
          <p:nvPr/>
        </p:nvSpPr>
        <p:spPr>
          <a:xfrm>
            <a:off x="10981060" y="9020503"/>
            <a:ext cx="9210352" cy="12213897"/>
          </a:xfrm>
          <a:prstGeom prst="roundRect">
            <a:avLst>
              <a:gd name="adj" fmla="val 4248"/>
            </a:avLst>
          </a:prstGeom>
          <a:solidFill>
            <a:schemeClr val="bg1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B7AA3542-BFB9-EC03-C4BE-35F3696060E5}"/>
              </a:ext>
            </a:extLst>
          </p:cNvPr>
          <p:cNvSpPr/>
          <p:nvPr/>
        </p:nvSpPr>
        <p:spPr>
          <a:xfrm>
            <a:off x="1192212" y="17087790"/>
            <a:ext cx="9210352" cy="4146610"/>
          </a:xfrm>
          <a:prstGeom prst="roundRect">
            <a:avLst>
              <a:gd name="adj" fmla="val 4248"/>
            </a:avLst>
          </a:prstGeom>
          <a:solidFill>
            <a:schemeClr val="bg1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1" name="Picture 8" descr="Hosted MySQL - Amazon RDS for MySQL - AWS">
            <a:extLst>
              <a:ext uri="{FF2B5EF4-FFF2-40B4-BE49-F238E27FC236}">
                <a16:creationId xmlns:a16="http://schemas.microsoft.com/office/drawing/2014/main" id="{0D1C3F05-3242-5067-C2BE-3FDCDCBB5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306" y="18848155"/>
            <a:ext cx="2300961" cy="118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GitHub Logo, symbol, meaning, history, PNG, brand">
            <a:extLst>
              <a:ext uri="{FF2B5EF4-FFF2-40B4-BE49-F238E27FC236}">
                <a16:creationId xmlns:a16="http://schemas.microsoft.com/office/drawing/2014/main" id="{C2AB27FA-A303-1F58-042F-3D6B118BB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2" r="15809"/>
          <a:stretch>
            <a:fillRect/>
          </a:stretch>
        </p:blipFill>
        <p:spPr bwMode="auto">
          <a:xfrm>
            <a:off x="8412563" y="18029309"/>
            <a:ext cx="1736619" cy="142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0761DD20-2A5D-2C7A-A30A-EF53C01B9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330" y="18717055"/>
            <a:ext cx="2903870" cy="827706"/>
          </a:xfrm>
          <a:prstGeom prst="rect">
            <a:avLst/>
          </a:prstGeom>
        </p:spPr>
      </p:pic>
      <p:pic>
        <p:nvPicPr>
          <p:cNvPr id="78" name="圖片 77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407F0A52-E94F-926C-AA56-B4F6C2F7A6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756" y="22991334"/>
            <a:ext cx="2674800" cy="5945443"/>
          </a:xfrm>
          <a:prstGeom prst="rect">
            <a:avLst/>
          </a:prstGeom>
          <a:ln w="38100">
            <a:noFill/>
          </a:ln>
        </p:spPr>
      </p:pic>
      <p:pic>
        <p:nvPicPr>
          <p:cNvPr id="79" name="圖片 78" descr="一張含有 文字, 螢幕擷取畫面, 軟體, 網站 的圖片&#10;&#10;AI 產生的內容可能不正確。">
            <a:extLst>
              <a:ext uri="{FF2B5EF4-FFF2-40B4-BE49-F238E27FC236}">
                <a16:creationId xmlns:a16="http://schemas.microsoft.com/office/drawing/2014/main" id="{8168E3F2-7969-5D10-CBF2-D3258B7CA36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184" y="23728210"/>
            <a:ext cx="2674800" cy="5945442"/>
          </a:xfrm>
          <a:prstGeom prst="rect">
            <a:avLst/>
          </a:prstGeom>
          <a:ln w="38100">
            <a:noFill/>
          </a:ln>
        </p:spPr>
      </p:pic>
      <p:pic>
        <p:nvPicPr>
          <p:cNvPr id="80" name="圖片 79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C64A09E8-1233-A759-2A9F-684D7DACF2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5194" y="22991334"/>
            <a:ext cx="2674800" cy="5945442"/>
          </a:xfrm>
          <a:prstGeom prst="rect">
            <a:avLst/>
          </a:prstGeom>
          <a:ln w="38100">
            <a:noFill/>
          </a:ln>
        </p:spPr>
      </p:pic>
      <p:pic>
        <p:nvPicPr>
          <p:cNvPr id="81" name="圖片 80" descr="一張含有 文字, 螢幕擷取畫面, 頭骨 的圖片&#10;&#10;AI 產生的內容可能不正確。">
            <a:extLst>
              <a:ext uri="{FF2B5EF4-FFF2-40B4-BE49-F238E27FC236}">
                <a16:creationId xmlns:a16="http://schemas.microsoft.com/office/drawing/2014/main" id="{697B8665-BA07-1DE3-C4AF-925B097B773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4137" y="23728210"/>
            <a:ext cx="2674800" cy="5945442"/>
          </a:xfrm>
          <a:prstGeom prst="rect">
            <a:avLst/>
          </a:prstGeom>
          <a:ln w="38100">
            <a:noFill/>
          </a:ln>
        </p:spPr>
      </p:pic>
      <p:pic>
        <p:nvPicPr>
          <p:cNvPr id="82" name="圖片 81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5B830794-C2D4-ED77-F4C8-AB181CFDC7F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254" y="23728210"/>
            <a:ext cx="2674800" cy="5945442"/>
          </a:xfrm>
          <a:prstGeom prst="rect">
            <a:avLst/>
          </a:prstGeom>
          <a:ln w="38100">
            <a:noFill/>
          </a:ln>
        </p:spPr>
      </p:pic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2622FB81-FC6D-325A-44EF-B154CD924063}"/>
              </a:ext>
            </a:extLst>
          </p:cNvPr>
          <p:cNvSpPr/>
          <p:nvPr/>
        </p:nvSpPr>
        <p:spPr>
          <a:xfrm>
            <a:off x="1887599" y="21767355"/>
            <a:ext cx="2794000" cy="973836"/>
          </a:xfrm>
          <a:prstGeom prst="roundRect">
            <a:avLst/>
          </a:prstGeom>
          <a:solidFill>
            <a:srgbClr val="94C0E8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EEB84C5-454B-CDF0-A661-309D695A078A}"/>
              </a:ext>
            </a:extLst>
          </p:cNvPr>
          <p:cNvSpPr txBox="1"/>
          <p:nvPr/>
        </p:nvSpPr>
        <p:spPr>
          <a:xfrm>
            <a:off x="2082988" y="21869553"/>
            <a:ext cx="24032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成果展示</a:t>
            </a:r>
          </a:p>
        </p:txBody>
      </p:sp>
      <p:pic>
        <p:nvPicPr>
          <p:cNvPr id="92" name="圖片 91" descr="一張含有 文字, 螢幕擷取畫面, 多媒體軟體, 軟體 的圖片&#10;&#10;AI 產生的內容可能不正確。">
            <a:extLst>
              <a:ext uri="{FF2B5EF4-FFF2-40B4-BE49-F238E27FC236}">
                <a16:creationId xmlns:a16="http://schemas.microsoft.com/office/drawing/2014/main" id="{8EF154E4-2305-19F7-DF52-85CE71CDC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2878" y="22991334"/>
            <a:ext cx="2749236" cy="5947200"/>
          </a:xfrm>
          <a:prstGeom prst="rect">
            <a:avLst/>
          </a:prstGeom>
        </p:spPr>
      </p:pic>
      <p:pic>
        <p:nvPicPr>
          <p:cNvPr id="94" name="圖片 93" descr="一張含有 文字, 螢幕擷取畫面, 室內, 藝術 的圖片&#10;&#10;AI 產生的內容可能不正確。">
            <a:extLst>
              <a:ext uri="{FF2B5EF4-FFF2-40B4-BE49-F238E27FC236}">
                <a16:creationId xmlns:a16="http://schemas.microsoft.com/office/drawing/2014/main" id="{C73A1556-119C-1651-2529-C375A21DDB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501" y="23726452"/>
            <a:ext cx="2749237" cy="5947200"/>
          </a:xfrm>
          <a:prstGeom prst="rect">
            <a:avLst/>
          </a:prstGeom>
        </p:spPr>
      </p:pic>
      <p:pic>
        <p:nvPicPr>
          <p:cNvPr id="96" name="圖片 95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BE163F86-3604-987F-5F94-13B1DDD4B7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124" y="22991334"/>
            <a:ext cx="2749237" cy="5947200"/>
          </a:xfrm>
          <a:prstGeom prst="rect">
            <a:avLst/>
          </a:prstGeom>
        </p:spPr>
      </p:pic>
      <p:pic>
        <p:nvPicPr>
          <p:cNvPr id="1028" name="Picture 4" descr="Cloudflare - 維基百科，自由的百科全書">
            <a:extLst>
              <a:ext uri="{FF2B5EF4-FFF2-40B4-BE49-F238E27FC236}">
                <a16:creationId xmlns:a16="http://schemas.microsoft.com/office/drawing/2014/main" id="{8BD43DFD-DBC6-16BD-4096-EEEB40B1A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214" y="19868929"/>
            <a:ext cx="2997651" cy="102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D34DE170-D4BB-F12F-5527-BC23A3844D44}"/>
              </a:ext>
            </a:extLst>
          </p:cNvPr>
          <p:cNvSpPr/>
          <p:nvPr/>
        </p:nvSpPr>
        <p:spPr>
          <a:xfrm>
            <a:off x="1789757" y="17387157"/>
            <a:ext cx="3307537" cy="973836"/>
          </a:xfrm>
          <a:prstGeom prst="roundRect">
            <a:avLst/>
          </a:prstGeom>
          <a:solidFill>
            <a:srgbClr val="94C0E8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655E076-B8F5-6C4F-E728-11FEEDC5E5BA}"/>
              </a:ext>
            </a:extLst>
          </p:cNvPr>
          <p:cNvSpPr txBox="1"/>
          <p:nvPr/>
        </p:nvSpPr>
        <p:spPr>
          <a:xfrm>
            <a:off x="1965911" y="17501956"/>
            <a:ext cx="29578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技術與工具</a:t>
            </a:r>
          </a:p>
        </p:txBody>
      </p:sp>
      <p:pic>
        <p:nvPicPr>
          <p:cNvPr id="72" name="Picture 4" descr="iT 邦幫忙::一起幫忙解決難題，拯救IT 人的一天">
            <a:extLst>
              <a:ext uri="{FF2B5EF4-FFF2-40B4-BE49-F238E27FC236}">
                <a16:creationId xmlns:a16="http://schemas.microsoft.com/office/drawing/2014/main" id="{B4C2F10C-76BD-2200-6E4A-B742496B5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281" y="17418937"/>
            <a:ext cx="2443282" cy="12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F9619C84-1F58-FB36-B5B4-78A811CCF691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871" t="5353" r="50617" b="4492"/>
          <a:stretch>
            <a:fillRect/>
          </a:stretch>
        </p:blipFill>
        <p:spPr>
          <a:xfrm>
            <a:off x="11231166" y="10774743"/>
            <a:ext cx="8881285" cy="10118384"/>
          </a:xfrm>
          <a:custGeom>
            <a:avLst/>
            <a:gdLst>
              <a:gd name="connsiteX0" fmla="*/ 0 w 8140318"/>
              <a:gd name="connsiteY0" fmla="*/ 0 h 9274206"/>
              <a:gd name="connsiteX1" fmla="*/ 5614606 w 8140318"/>
              <a:gd name="connsiteY1" fmla="*/ 0 h 9274206"/>
              <a:gd name="connsiteX2" fmla="*/ 5614606 w 8140318"/>
              <a:gd name="connsiteY2" fmla="*/ 598291 h 9274206"/>
              <a:gd name="connsiteX3" fmla="*/ 8140318 w 8140318"/>
              <a:gd name="connsiteY3" fmla="*/ 598291 h 9274206"/>
              <a:gd name="connsiteX4" fmla="*/ 8140318 w 8140318"/>
              <a:gd name="connsiteY4" fmla="*/ 9274206 h 9274206"/>
              <a:gd name="connsiteX5" fmla="*/ 0 w 8140318"/>
              <a:gd name="connsiteY5" fmla="*/ 9274206 h 9274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40318" h="9274206">
                <a:moveTo>
                  <a:pt x="0" y="0"/>
                </a:moveTo>
                <a:lnTo>
                  <a:pt x="5614606" y="0"/>
                </a:lnTo>
                <a:lnTo>
                  <a:pt x="5614606" y="598291"/>
                </a:lnTo>
                <a:lnTo>
                  <a:pt x="8140318" y="598291"/>
                </a:lnTo>
                <a:lnTo>
                  <a:pt x="8140318" y="9274206"/>
                </a:lnTo>
                <a:lnTo>
                  <a:pt x="0" y="9274206"/>
                </a:lnTo>
                <a:close/>
              </a:path>
            </a:pathLst>
          </a:cu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45D8197E-B99A-9C41-5682-FC57636387A4}"/>
              </a:ext>
            </a:extLst>
          </p:cNvPr>
          <p:cNvSpPr/>
          <p:nvPr/>
        </p:nvSpPr>
        <p:spPr>
          <a:xfrm>
            <a:off x="11553939" y="9370039"/>
            <a:ext cx="2794000" cy="973836"/>
          </a:xfrm>
          <a:prstGeom prst="roundRect">
            <a:avLst/>
          </a:prstGeom>
          <a:solidFill>
            <a:srgbClr val="94C0E8"/>
          </a:solidFill>
          <a:ln w="38100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4B328A-97DC-EAD5-A7CE-5BE2BF3086AE}"/>
              </a:ext>
            </a:extLst>
          </p:cNvPr>
          <p:cNvSpPr txBox="1"/>
          <p:nvPr/>
        </p:nvSpPr>
        <p:spPr>
          <a:xfrm>
            <a:off x="11730092" y="9484838"/>
            <a:ext cx="24032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latin typeface="小賴字體 SC" panose="02010600030101010101" pitchFamily="2" charset="-122"/>
                <a:ea typeface="小賴字體 SC" panose="02010600030101010101" pitchFamily="2" charset="-122"/>
              </a:rPr>
              <a:t>系統架構</a:t>
            </a:r>
          </a:p>
        </p:txBody>
      </p:sp>
      <p:pic>
        <p:nvPicPr>
          <p:cNvPr id="1026" name="Picture 2" descr="Google AI Studio">
            <a:extLst>
              <a:ext uri="{FF2B5EF4-FFF2-40B4-BE49-F238E27FC236}">
                <a16:creationId xmlns:a16="http://schemas.microsoft.com/office/drawing/2014/main" id="{25D9CDB2-EC86-847F-82EE-63D9D8C95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duotone>
              <a:prstClr val="black"/>
              <a:srgbClr val="0E2841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40000" b="52593" l="26500" r="75917">
                        <a14:foregroundMark x1="29000" y1="43704" x2="29333" y2="44000"/>
                        <a14:foregroundMark x1="26833" y1="42667" x2="26583" y2="42667"/>
                        <a14:foregroundMark x1="38500" y1="46370" x2="38000" y2="46963"/>
                        <a14:foregroundMark x1="43167" y1="46074" x2="43833" y2="46370"/>
                        <a14:foregroundMark x1="47333" y1="46370" x2="47417" y2="47407"/>
                        <a14:foregroundMark x1="48583" y1="45037" x2="48500" y2="46222"/>
                        <a14:foregroundMark x1="51167" y1="47556" x2="51500" y2="47111"/>
                        <a14:foregroundMark x1="56750" y1="48296" x2="57000" y2="48741"/>
                        <a14:foregroundMark x1="64250" y1="45926" x2="64250" y2="46519"/>
                        <a14:foregroundMark x1="66000" y1="46667" x2="65917" y2="47556"/>
                        <a14:foregroundMark x1="71333" y1="46370" x2="71333" y2="46963"/>
                        <a14:foregroundMark x1="72667" y1="43852" x2="72667" y2="43852"/>
                        <a14:foregroundMark x1="75750" y1="46963" x2="75917" y2="47556"/>
                        <a14:foregroundMark x1="58333" y1="47852" x2="58333" y2="48296"/>
                        <a14:foregroundMark x1="61000" y1="44741" x2="61083" y2="45630"/>
                        <a14:foregroundMark x1="72500" y1="47852" x2="72500" y2="48296"/>
                        <a14:backgroundMark x1="58883" y1="46275" x2="58833" y2="47852"/>
                        <a14:backgroundMark x1="58917" y1="44593" x2="58917" y2="45333"/>
                        <a14:backgroundMark x1="73250" y1="46370" x2="73167" y2="46963"/>
                        <a14:backgroundMark x1="73083" y1="47111" x2="73083" y2="47704"/>
                        <a14:backgroundMark x1="26583" y1="43111" x2="26833" y2="43111"/>
                        <a14:backgroundMark x1="50250" y1="47259" x2="50667" y2="47259"/>
                        <a14:backgroundMark x1="75583" y1="47111" x2="75417" y2="47111"/>
                      </a14:backgroundRemoval>
                    </a14:imgEffect>
                    <a14:imgEffect>
                      <a14:brightnessContrast bright="-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61" t="38667" r="22788" b="45799"/>
          <a:stretch>
            <a:fillRect/>
          </a:stretch>
        </p:blipFill>
        <p:spPr bwMode="auto">
          <a:xfrm>
            <a:off x="1521237" y="20112249"/>
            <a:ext cx="4364411" cy="71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10" descr="一張含有 圖畫, 寫生, 兒童藝術, 圖解 的圖片&#10;&#10;AI 產生的內容可能不正確。">
            <a:extLst>
              <a:ext uri="{FF2B5EF4-FFF2-40B4-BE49-F238E27FC236}">
                <a16:creationId xmlns:a16="http://schemas.microsoft.com/office/drawing/2014/main" id="{ADE80FEE-FDD7-50C4-0C9D-0E08EC730D2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3636" b="96364" l="10000" r="90000">
                        <a14:foregroundMark x1="53273" y1="8647" x2="52424" y2="8788"/>
                        <a14:foregroundMark x1="54916" y1="8373" x2="53821" y2="8555"/>
                        <a14:foregroundMark x1="33030" y1="95455" x2="36061" y2="93636"/>
                        <a14:foregroundMark x1="52093" y1="3939" x2="50909" y2="3939"/>
                        <a14:foregroundMark x1="59394" y1="96061" x2="62727" y2="96364"/>
                        <a14:backgroundMark x1="52727" y1="3030" x2="51515" y2="3030"/>
                        <a14:backgroundMark x1="50303" y1="3030" x2="49697" y2="30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8635" y="18932941"/>
            <a:ext cx="3074782" cy="30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0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873</TotalTime>
  <Words>122</Words>
  <Application>Microsoft Office PowerPoint</Application>
  <PresentationFormat>自訂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小賴字體 SC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曾予菲</dc:creator>
  <cp:lastModifiedBy>曾予菲</cp:lastModifiedBy>
  <cp:revision>13</cp:revision>
  <cp:lastPrinted>2025-12-02T16:29:11Z</cp:lastPrinted>
  <dcterms:created xsi:type="dcterms:W3CDTF">2025-11-26T02:05:13Z</dcterms:created>
  <dcterms:modified xsi:type="dcterms:W3CDTF">2025-12-25T07:17:53Z</dcterms:modified>
</cp:coreProperties>
</file>